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Cormorant Garamond" panose="020B0604020202020204" charset="0"/>
      <p:regular r:id="rId15"/>
    </p:embeddedFont>
    <p:embeddedFont>
      <p:font typeface="Cormorant Garamond Bold Italics" panose="020B0604020202020204" charset="0"/>
      <p:regular r:id="rId16"/>
    </p:embeddedFont>
    <p:embeddedFont>
      <p:font typeface="Quicksan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55" d="100"/>
          <a:sy n="55" d="100"/>
        </p:scale>
        <p:origin x="872" y="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 this project, I selected a dataset from Statistics Canada about trust in others. I chose this topic because trust is an important social factor, and it allows me to compare differences across age groups and gender.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 this project, I selected a dataset from Statistics Canada about trust in others. I chose this topic because trust is an important social factor, and it allows me to compare differences across age groups and gender.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2478342"/>
            <a:ext cx="16229942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Big Data Project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2737539" y="5908475"/>
            <a:ext cx="12812922" cy="83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Quality Life Hub Using R Studio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9752" y="7032069"/>
            <a:ext cx="6988496" cy="52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April 21, 2026</a:t>
            </a:r>
          </a:p>
        </p:txBody>
      </p:sp>
      <p:sp>
        <p:nvSpPr>
          <p:cNvPr id="8" name="Freeform 8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63754" y="4293667"/>
            <a:ext cx="9960491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ctr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Source: Statistics Canada – Quality of Life Hub</a:t>
            </a:r>
          </a:p>
          <a:p>
            <a:pPr marL="518160" lvl="1" indent="-259080" algn="ctr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Topic: Good Governance- Confidence in Institutions</a:t>
            </a:r>
          </a:p>
          <a:p>
            <a:pPr marL="518160" lvl="1" indent="-259080" algn="ctr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Variables: Confidence Level, Institutions, Gender, Age, Immigration Status, Area of Residence</a:t>
            </a:r>
          </a:p>
          <a:p>
            <a:pPr marL="0" lvl="0" indent="0" algn="ctr">
              <a:lnSpc>
                <a:spcPts val="4079"/>
              </a:lnSpc>
            </a:pPr>
            <a:endParaRPr lang="en-US" sz="240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AutoShape 4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 Selection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62750" y="211396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AutoShape 3"/>
          <p:cNvSpPr/>
          <p:nvPr/>
        </p:nvSpPr>
        <p:spPr>
          <a:xfrm>
            <a:off x="11531379" y="9762558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8657617" y="3631182"/>
            <a:ext cx="9366001" cy="2602464"/>
          </a:xfrm>
          <a:custGeom>
            <a:avLst/>
            <a:gdLst/>
            <a:ahLst/>
            <a:cxnLst/>
            <a:rect l="l" t="t" r="r" b="b"/>
            <a:pathLst>
              <a:path w="9366001" h="2602464">
                <a:moveTo>
                  <a:pt x="0" y="0"/>
                </a:moveTo>
                <a:lnTo>
                  <a:pt x="9366002" y="0"/>
                </a:lnTo>
                <a:lnTo>
                  <a:pt x="9366002" y="2602464"/>
                </a:lnTo>
                <a:lnTo>
                  <a:pt x="0" y="2602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8" b="-83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477316" y="7421952"/>
            <a:ext cx="8666684" cy="1970342"/>
          </a:xfrm>
          <a:custGeom>
            <a:avLst/>
            <a:gdLst/>
            <a:ahLst/>
            <a:cxnLst/>
            <a:rect l="l" t="t" r="r" b="b"/>
            <a:pathLst>
              <a:path w="8666684" h="1970342">
                <a:moveTo>
                  <a:pt x="0" y="0"/>
                </a:moveTo>
                <a:lnTo>
                  <a:pt x="8666684" y="0"/>
                </a:lnTo>
                <a:lnTo>
                  <a:pt x="8666684" y="1970342"/>
                </a:lnTo>
                <a:lnTo>
                  <a:pt x="0" y="1970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9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6" name="AutoShape 6"/>
          <p:cNvSpPr/>
          <p:nvPr/>
        </p:nvSpPr>
        <p:spPr>
          <a:xfrm flipV="1">
            <a:off x="9144000" y="8217576"/>
            <a:ext cx="1087492" cy="0"/>
          </a:xfrm>
          <a:prstGeom prst="line">
            <a:avLst/>
          </a:prstGeom>
          <a:ln w="38100" cap="flat">
            <a:solidFill>
              <a:srgbClr val="0F466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0334612" y="7669602"/>
            <a:ext cx="7798498" cy="1850491"/>
          </a:xfrm>
          <a:custGeom>
            <a:avLst/>
            <a:gdLst/>
            <a:ahLst/>
            <a:cxnLst/>
            <a:rect l="l" t="t" r="r" b="b"/>
            <a:pathLst>
              <a:path w="7798498" h="1850491">
                <a:moveTo>
                  <a:pt x="0" y="0"/>
                </a:moveTo>
                <a:lnTo>
                  <a:pt x="7798499" y="0"/>
                </a:lnTo>
                <a:lnTo>
                  <a:pt x="7798499" y="1850491"/>
                </a:lnTo>
                <a:lnTo>
                  <a:pt x="0" y="1850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1028700" y="599709"/>
            <a:ext cx="13205161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Confidence in Institutions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8345" y="3574032"/>
            <a:ext cx="7558209" cy="504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spcBef>
                <a:spcPct val="0"/>
              </a:spcBef>
              <a:buAutoNum type="arabicPeriod"/>
            </a:pPr>
            <a:r>
              <a:rPr lang="en-US" sz="2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Basic Data Cleaning in Stats Canada and .csv file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8345" y="4183660"/>
            <a:ext cx="7216645" cy="105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3" lvl="1"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2. Additional </a:t>
            </a:r>
            <a:r>
              <a:rPr lang="en-US" sz="3000" b="1" i="1" u="none" strike="noStrike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cleaning check in R: missing, duplicate, reorder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8345" y="6617131"/>
            <a:ext cx="11901940" cy="52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3" lvl="1"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 u="none" strike="noStrike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4. Segregate variable ‘Indicators’ to ‘</a:t>
            </a:r>
            <a:r>
              <a:rPr lang="en-US" sz="3000" b="1" i="1" u="none" strike="noStrike" dirty="0" err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Confidence_Level</a:t>
            </a:r>
            <a:r>
              <a:rPr lang="en-US" sz="3000" b="1" i="1" u="none" strike="noStrike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’ and ‘Institutions’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209214"/>
            <a:ext cx="6348912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Transformation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3327" y="2209214"/>
            <a:ext cx="6348912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Cleaned Table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8345" y="5345627"/>
            <a:ext cx="7558209" cy="105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3" lvl="1"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3. Converting Confidence Levels 1-5 to </a:t>
            </a:r>
            <a:r>
              <a:rPr lang="en-US" sz="3000" b="1" i="1" dirty="0" err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oridnal</a:t>
            </a:r>
            <a:r>
              <a:rPr lang="en-US" sz="30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“High”, “Neutral”, “Low”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16102"/>
            <a:ext cx="8107994" cy="6914844"/>
          </a:xfrm>
          <a:custGeom>
            <a:avLst/>
            <a:gdLst/>
            <a:ahLst/>
            <a:cxnLst/>
            <a:rect l="l" t="t" r="r" b="b"/>
            <a:pathLst>
              <a:path w="8107994" h="6914844">
                <a:moveTo>
                  <a:pt x="0" y="0"/>
                </a:moveTo>
                <a:lnTo>
                  <a:pt x="8107994" y="0"/>
                </a:lnTo>
                <a:lnTo>
                  <a:pt x="8107994" y="6914845"/>
                </a:lnTo>
                <a:lnTo>
                  <a:pt x="0" y="6914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28700" y="599709"/>
            <a:ext cx="13205161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Confidence Distribution by Institutions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39910" y="3816118"/>
            <a:ext cx="5701138" cy="67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4A7FF7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Highest confidence</a:t>
            </a:r>
            <a:r>
              <a:rPr lang="en-US" sz="3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- Police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39910" y="5256603"/>
            <a:ext cx="5701138" cy="138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FF5757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Lowest confidence</a:t>
            </a:r>
            <a:r>
              <a:rPr lang="en-US" sz="3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- Federal Parliament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39910" y="7131699"/>
            <a:ext cx="5701138" cy="138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>
                <a:solidFill>
                  <a:srgbClr val="00BF63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Neutral confidence </a:t>
            </a:r>
            <a:r>
              <a:rPr lang="en-US" sz="3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- high across all institutions 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921" y="3386521"/>
            <a:ext cx="2218094" cy="129388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5921" y="4877806"/>
            <a:ext cx="2218094" cy="1293888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921" y="6752902"/>
            <a:ext cx="2218094" cy="129388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930762" y="2309674"/>
            <a:ext cx="6348912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Insights: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84914"/>
            <a:ext cx="10069417" cy="6117171"/>
          </a:xfrm>
          <a:custGeom>
            <a:avLst/>
            <a:gdLst/>
            <a:ahLst/>
            <a:cxnLst/>
            <a:rect l="l" t="t" r="r" b="b"/>
            <a:pathLst>
              <a:path w="10069417" h="6117171">
                <a:moveTo>
                  <a:pt x="0" y="0"/>
                </a:moveTo>
                <a:lnTo>
                  <a:pt x="10069417" y="0"/>
                </a:lnTo>
                <a:lnTo>
                  <a:pt x="10069417" y="6117172"/>
                </a:lnTo>
                <a:lnTo>
                  <a:pt x="0" y="6117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1532217" y="5823994"/>
            <a:ext cx="904249" cy="1109622"/>
          </a:xfrm>
          <a:custGeom>
            <a:avLst/>
            <a:gdLst/>
            <a:ahLst/>
            <a:cxnLst/>
            <a:rect l="l" t="t" r="r" b="b"/>
            <a:pathLst>
              <a:path w="904249" h="1109622">
                <a:moveTo>
                  <a:pt x="0" y="0"/>
                </a:moveTo>
                <a:lnTo>
                  <a:pt x="904249" y="0"/>
                </a:lnTo>
                <a:lnTo>
                  <a:pt x="904249" y="1109622"/>
                </a:lnTo>
                <a:lnTo>
                  <a:pt x="0" y="1109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96768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028700" y="599709"/>
            <a:ext cx="13205161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YoY Change in Confidence Levels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50394" y="5574983"/>
            <a:ext cx="1732025" cy="122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79"/>
              </a:lnSpc>
              <a:spcBef>
                <a:spcPct val="0"/>
              </a:spcBef>
            </a:pPr>
            <a:r>
              <a:rPr lang="en-US" sz="71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-1.7%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08861" y="7059281"/>
            <a:ext cx="1732025" cy="82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Police</a:t>
            </a:r>
          </a:p>
        </p:txBody>
      </p:sp>
      <p:sp>
        <p:nvSpPr>
          <p:cNvPr id="7" name="Freeform 7"/>
          <p:cNvSpPr/>
          <p:nvPr/>
        </p:nvSpPr>
        <p:spPr>
          <a:xfrm>
            <a:off x="14952684" y="5909317"/>
            <a:ext cx="856177" cy="1024299"/>
          </a:xfrm>
          <a:custGeom>
            <a:avLst/>
            <a:gdLst/>
            <a:ahLst/>
            <a:cxnLst/>
            <a:rect l="l" t="t" r="r" b="b"/>
            <a:pathLst>
              <a:path w="856177" h="1024299">
                <a:moveTo>
                  <a:pt x="0" y="0"/>
                </a:moveTo>
                <a:lnTo>
                  <a:pt x="856177" y="0"/>
                </a:lnTo>
                <a:lnTo>
                  <a:pt x="856177" y="1024299"/>
                </a:lnTo>
                <a:lnTo>
                  <a:pt x="0" y="1024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3056" t="-317" b="-31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8"/>
          <p:cNvSpPr txBox="1"/>
          <p:nvPr/>
        </p:nvSpPr>
        <p:spPr>
          <a:xfrm>
            <a:off x="12436466" y="5591176"/>
            <a:ext cx="1856019" cy="1226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+0.5%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45619" y="6858241"/>
            <a:ext cx="2065532" cy="125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Canadian Media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15177" y="3281391"/>
            <a:ext cx="6348912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Year‑over‑year confidence levels show minimal change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15177" y="2158118"/>
            <a:ext cx="6348912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Insights: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63630"/>
            <a:ext cx="10125637" cy="7087946"/>
          </a:xfrm>
          <a:custGeom>
            <a:avLst/>
            <a:gdLst/>
            <a:ahLst/>
            <a:cxnLst/>
            <a:rect l="l" t="t" r="r" b="b"/>
            <a:pathLst>
              <a:path w="10125637" h="7087946">
                <a:moveTo>
                  <a:pt x="0" y="0"/>
                </a:moveTo>
                <a:lnTo>
                  <a:pt x="10125637" y="0"/>
                </a:lnTo>
                <a:lnTo>
                  <a:pt x="10125637" y="7087946"/>
                </a:lnTo>
                <a:lnTo>
                  <a:pt x="0" y="7087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28700" y="599751"/>
            <a:ext cx="13205161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Confidence Levels by Immigration Status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74533" y="4047563"/>
            <a:ext cx="6772823" cy="368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0" lvl="1" indent="-453390" algn="l">
              <a:lnSpc>
                <a:spcPts val="5880"/>
              </a:lnSpc>
              <a:buFont typeface="Arial"/>
              <a:buChar char="•"/>
            </a:pPr>
            <a:r>
              <a:rPr lang="en-US" sz="4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Immigrants are comparatively more confident.</a:t>
            </a:r>
          </a:p>
          <a:p>
            <a:pPr marL="906780" lvl="1" indent="-453390" algn="l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More than half of Non-Immigrants are either unsure or have low confidence.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74533" y="2924289"/>
            <a:ext cx="6348912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Insights: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248793"/>
            <a:ext cx="10104371" cy="7097771"/>
          </a:xfrm>
          <a:custGeom>
            <a:avLst/>
            <a:gdLst/>
            <a:ahLst/>
            <a:cxnLst/>
            <a:rect l="l" t="t" r="r" b="b"/>
            <a:pathLst>
              <a:path w="10104371" h="7097771">
                <a:moveTo>
                  <a:pt x="0" y="0"/>
                </a:moveTo>
                <a:lnTo>
                  <a:pt x="10104371" y="0"/>
                </a:lnTo>
                <a:lnTo>
                  <a:pt x="10104371" y="7097771"/>
                </a:lnTo>
                <a:lnTo>
                  <a:pt x="0" y="709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1352989" y="4191248"/>
            <a:ext cx="720713" cy="747909"/>
          </a:xfrm>
          <a:custGeom>
            <a:avLst/>
            <a:gdLst/>
            <a:ahLst/>
            <a:cxnLst/>
            <a:rect l="l" t="t" r="r" b="b"/>
            <a:pathLst>
              <a:path w="720713" h="747909">
                <a:moveTo>
                  <a:pt x="0" y="0"/>
                </a:moveTo>
                <a:lnTo>
                  <a:pt x="720712" y="0"/>
                </a:lnTo>
                <a:lnTo>
                  <a:pt x="720712" y="747909"/>
                </a:lnTo>
                <a:lnTo>
                  <a:pt x="0" y="747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1268106" y="7619529"/>
            <a:ext cx="1054119" cy="1054119"/>
          </a:xfrm>
          <a:custGeom>
            <a:avLst/>
            <a:gdLst/>
            <a:ahLst/>
            <a:cxnLst/>
            <a:rect l="l" t="t" r="r" b="b"/>
            <a:pathLst>
              <a:path w="1054119" h="1054119">
                <a:moveTo>
                  <a:pt x="0" y="0"/>
                </a:moveTo>
                <a:lnTo>
                  <a:pt x="1054119" y="0"/>
                </a:lnTo>
                <a:lnTo>
                  <a:pt x="1054119" y="1054119"/>
                </a:lnTo>
                <a:lnTo>
                  <a:pt x="0" y="1054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1352989" y="6043581"/>
            <a:ext cx="887416" cy="887416"/>
          </a:xfrm>
          <a:custGeom>
            <a:avLst/>
            <a:gdLst/>
            <a:ahLst/>
            <a:cxnLst/>
            <a:rect l="l" t="t" r="r" b="b"/>
            <a:pathLst>
              <a:path w="887416" h="887416">
                <a:moveTo>
                  <a:pt x="0" y="0"/>
                </a:moveTo>
                <a:lnTo>
                  <a:pt x="887415" y="0"/>
                </a:lnTo>
                <a:lnTo>
                  <a:pt x="887415" y="887415"/>
                </a:lnTo>
                <a:lnTo>
                  <a:pt x="0" y="887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13205161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Confidence Levels by Age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4809" y="2688782"/>
            <a:ext cx="6348912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Insights: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78501" y="4170868"/>
            <a:ext cx="5627579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Upward sloping increasing trend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60322" y="5721478"/>
            <a:ext cx="5627579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Younger respondents =</a:t>
            </a:r>
            <a:r>
              <a:rPr lang="en-US" sz="4200" b="1" i="1">
                <a:solidFill>
                  <a:srgbClr val="C9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lower confidence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60322" y="7380778"/>
            <a:ext cx="5627579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Older respondents = </a:t>
            </a:r>
            <a:r>
              <a:rPr lang="en-US" sz="4200" b="1" i="1">
                <a:solidFill>
                  <a:srgbClr val="4A7FF7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higher confidence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871170"/>
            <a:ext cx="7536826" cy="5280820"/>
          </a:xfrm>
          <a:custGeom>
            <a:avLst/>
            <a:gdLst/>
            <a:ahLst/>
            <a:cxnLst/>
            <a:rect l="l" t="t" r="r" b="b"/>
            <a:pathLst>
              <a:path w="7536826" h="5280820">
                <a:moveTo>
                  <a:pt x="0" y="0"/>
                </a:moveTo>
                <a:lnTo>
                  <a:pt x="7536826" y="0"/>
                </a:lnTo>
                <a:lnTo>
                  <a:pt x="7536826" y="5280820"/>
                </a:lnTo>
                <a:lnTo>
                  <a:pt x="0" y="5280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9722474" y="1871170"/>
            <a:ext cx="7536826" cy="5280820"/>
          </a:xfrm>
          <a:custGeom>
            <a:avLst/>
            <a:gdLst/>
            <a:ahLst/>
            <a:cxnLst/>
            <a:rect l="l" t="t" r="r" b="b"/>
            <a:pathLst>
              <a:path w="7536826" h="5280820">
                <a:moveTo>
                  <a:pt x="0" y="0"/>
                </a:moveTo>
                <a:lnTo>
                  <a:pt x="7536826" y="0"/>
                </a:lnTo>
                <a:lnTo>
                  <a:pt x="7536826" y="5280820"/>
                </a:lnTo>
                <a:lnTo>
                  <a:pt x="0" y="5280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2073484" y="8279018"/>
            <a:ext cx="780630" cy="1500604"/>
          </a:xfrm>
          <a:custGeom>
            <a:avLst/>
            <a:gdLst/>
            <a:ahLst/>
            <a:cxnLst/>
            <a:rect l="l" t="t" r="r" b="b"/>
            <a:pathLst>
              <a:path w="780630" h="1500604">
                <a:moveTo>
                  <a:pt x="0" y="0"/>
                </a:moveTo>
                <a:lnTo>
                  <a:pt x="780630" y="0"/>
                </a:lnTo>
                <a:lnTo>
                  <a:pt x="780630" y="1500605"/>
                </a:lnTo>
                <a:lnTo>
                  <a:pt x="0" y="1500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821" t="-10515" r="-21092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1679402" y="8241575"/>
            <a:ext cx="815530" cy="1500604"/>
          </a:xfrm>
          <a:custGeom>
            <a:avLst/>
            <a:gdLst/>
            <a:ahLst/>
            <a:cxnLst/>
            <a:rect l="l" t="t" r="r" b="b"/>
            <a:pathLst>
              <a:path w="815530" h="1500604">
                <a:moveTo>
                  <a:pt x="0" y="0"/>
                </a:moveTo>
                <a:lnTo>
                  <a:pt x="815530" y="0"/>
                </a:lnTo>
                <a:lnTo>
                  <a:pt x="815530" y="1500604"/>
                </a:lnTo>
                <a:lnTo>
                  <a:pt x="0" y="1500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1216" r="-42450" b="-11535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2741410" y="8376726"/>
            <a:ext cx="1453177" cy="1365453"/>
          </a:xfrm>
          <a:custGeom>
            <a:avLst/>
            <a:gdLst/>
            <a:ahLst/>
            <a:cxnLst/>
            <a:rect l="l" t="t" r="r" b="b"/>
            <a:pathLst>
              <a:path w="1453177" h="1365453">
                <a:moveTo>
                  <a:pt x="0" y="0"/>
                </a:moveTo>
                <a:lnTo>
                  <a:pt x="1453177" y="0"/>
                </a:lnTo>
                <a:lnTo>
                  <a:pt x="1453177" y="1365453"/>
                </a:lnTo>
                <a:lnTo>
                  <a:pt x="0" y="1365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6183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028700" y="8545101"/>
            <a:ext cx="901909" cy="1079011"/>
          </a:xfrm>
          <a:custGeom>
            <a:avLst/>
            <a:gdLst/>
            <a:ahLst/>
            <a:cxnLst/>
            <a:rect l="l" t="t" r="r" b="b"/>
            <a:pathLst>
              <a:path w="901909" h="1079011">
                <a:moveTo>
                  <a:pt x="0" y="0"/>
                </a:moveTo>
                <a:lnTo>
                  <a:pt x="901909" y="0"/>
                </a:lnTo>
                <a:lnTo>
                  <a:pt x="901909" y="1079011"/>
                </a:lnTo>
                <a:lnTo>
                  <a:pt x="0" y="10790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3056" t="-317" b="-31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10386065" y="8631026"/>
            <a:ext cx="1150462" cy="723745"/>
          </a:xfrm>
          <a:custGeom>
            <a:avLst/>
            <a:gdLst/>
            <a:ahLst/>
            <a:cxnLst/>
            <a:rect l="l" t="t" r="r" b="b"/>
            <a:pathLst>
              <a:path w="1150462" h="723745">
                <a:moveTo>
                  <a:pt x="0" y="0"/>
                </a:moveTo>
                <a:lnTo>
                  <a:pt x="1150462" y="0"/>
                </a:lnTo>
                <a:lnTo>
                  <a:pt x="1150462" y="723745"/>
                </a:lnTo>
                <a:lnTo>
                  <a:pt x="0" y="723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TextBox 9"/>
          <p:cNvSpPr txBox="1"/>
          <p:nvPr/>
        </p:nvSpPr>
        <p:spPr>
          <a:xfrm>
            <a:off x="1028700" y="599709"/>
            <a:ext cx="1320516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Confidence Levels by Area &amp; Gender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223977"/>
            <a:ext cx="13185813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Insights: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37462" y="8333727"/>
            <a:ext cx="4562703" cy="125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Both Rural population and Men have lower confidence.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96597" y="8332705"/>
            <a:ext cx="4562703" cy="125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Urban and Rural Women have higher Neutral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0407" y="1280294"/>
            <a:ext cx="6140084" cy="2121684"/>
            <a:chOff x="0" y="0"/>
            <a:chExt cx="1617141" cy="558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7141" cy="558797"/>
            </a:xfrm>
            <a:custGeom>
              <a:avLst/>
              <a:gdLst/>
              <a:ahLst/>
              <a:cxnLst/>
              <a:rect l="l" t="t" r="r" b="b"/>
              <a:pathLst>
                <a:path w="1617141" h="558797">
                  <a:moveTo>
                    <a:pt x="64305" y="0"/>
                  </a:moveTo>
                  <a:lnTo>
                    <a:pt x="1552836" y="0"/>
                  </a:lnTo>
                  <a:cubicBezTo>
                    <a:pt x="1588351" y="0"/>
                    <a:pt x="1617141" y="28790"/>
                    <a:pt x="1617141" y="64305"/>
                  </a:cubicBezTo>
                  <a:lnTo>
                    <a:pt x="1617141" y="494492"/>
                  </a:lnTo>
                  <a:cubicBezTo>
                    <a:pt x="1617141" y="530007"/>
                    <a:pt x="1588351" y="558797"/>
                    <a:pt x="1552836" y="558797"/>
                  </a:cubicBezTo>
                  <a:lnTo>
                    <a:pt x="64305" y="558797"/>
                  </a:lnTo>
                  <a:cubicBezTo>
                    <a:pt x="28790" y="558797"/>
                    <a:pt x="0" y="530007"/>
                    <a:pt x="0" y="494492"/>
                  </a:cubicBezTo>
                  <a:lnTo>
                    <a:pt x="0" y="64305"/>
                  </a:lnTo>
                  <a:cubicBezTo>
                    <a:pt x="0" y="28790"/>
                    <a:pt x="28790" y="0"/>
                    <a:pt x="64305" y="0"/>
                  </a:cubicBez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7141" cy="596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60407" y="5847512"/>
            <a:ext cx="6140084" cy="2121684"/>
            <a:chOff x="0" y="0"/>
            <a:chExt cx="1617141" cy="5587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7141" cy="558797"/>
            </a:xfrm>
            <a:custGeom>
              <a:avLst/>
              <a:gdLst/>
              <a:ahLst/>
              <a:cxnLst/>
              <a:rect l="l" t="t" r="r" b="b"/>
              <a:pathLst>
                <a:path w="1617141" h="558797">
                  <a:moveTo>
                    <a:pt x="64305" y="0"/>
                  </a:moveTo>
                  <a:lnTo>
                    <a:pt x="1552836" y="0"/>
                  </a:lnTo>
                  <a:cubicBezTo>
                    <a:pt x="1588351" y="0"/>
                    <a:pt x="1617141" y="28790"/>
                    <a:pt x="1617141" y="64305"/>
                  </a:cubicBezTo>
                  <a:lnTo>
                    <a:pt x="1617141" y="494492"/>
                  </a:lnTo>
                  <a:cubicBezTo>
                    <a:pt x="1617141" y="530007"/>
                    <a:pt x="1588351" y="558797"/>
                    <a:pt x="1552836" y="558797"/>
                  </a:cubicBezTo>
                  <a:lnTo>
                    <a:pt x="64305" y="558797"/>
                  </a:lnTo>
                  <a:cubicBezTo>
                    <a:pt x="28790" y="558797"/>
                    <a:pt x="0" y="530007"/>
                    <a:pt x="0" y="494492"/>
                  </a:cubicBezTo>
                  <a:lnTo>
                    <a:pt x="0" y="64305"/>
                  </a:lnTo>
                  <a:cubicBezTo>
                    <a:pt x="0" y="28790"/>
                    <a:pt x="28790" y="0"/>
                    <a:pt x="64305" y="0"/>
                  </a:cubicBez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17141" cy="596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0407" y="3621053"/>
            <a:ext cx="6140084" cy="2121684"/>
            <a:chOff x="0" y="0"/>
            <a:chExt cx="1617141" cy="5587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17141" cy="558797"/>
            </a:xfrm>
            <a:custGeom>
              <a:avLst/>
              <a:gdLst/>
              <a:ahLst/>
              <a:cxnLst/>
              <a:rect l="l" t="t" r="r" b="b"/>
              <a:pathLst>
                <a:path w="1617141" h="558797">
                  <a:moveTo>
                    <a:pt x="64305" y="0"/>
                  </a:moveTo>
                  <a:lnTo>
                    <a:pt x="1552836" y="0"/>
                  </a:lnTo>
                  <a:cubicBezTo>
                    <a:pt x="1588351" y="0"/>
                    <a:pt x="1617141" y="28790"/>
                    <a:pt x="1617141" y="64305"/>
                  </a:cubicBezTo>
                  <a:lnTo>
                    <a:pt x="1617141" y="494492"/>
                  </a:lnTo>
                  <a:cubicBezTo>
                    <a:pt x="1617141" y="530007"/>
                    <a:pt x="1588351" y="558797"/>
                    <a:pt x="1552836" y="558797"/>
                  </a:cubicBezTo>
                  <a:lnTo>
                    <a:pt x="64305" y="558797"/>
                  </a:lnTo>
                  <a:cubicBezTo>
                    <a:pt x="28790" y="558797"/>
                    <a:pt x="0" y="530007"/>
                    <a:pt x="0" y="494492"/>
                  </a:cubicBezTo>
                  <a:lnTo>
                    <a:pt x="0" y="64305"/>
                  </a:lnTo>
                  <a:cubicBezTo>
                    <a:pt x="0" y="28790"/>
                    <a:pt x="28790" y="0"/>
                    <a:pt x="64305" y="0"/>
                  </a:cubicBez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17141" cy="596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9854" y="8131172"/>
            <a:ext cx="16449446" cy="2121684"/>
            <a:chOff x="0" y="0"/>
            <a:chExt cx="4332364" cy="5587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32364" cy="558797"/>
            </a:xfrm>
            <a:custGeom>
              <a:avLst/>
              <a:gdLst/>
              <a:ahLst/>
              <a:cxnLst/>
              <a:rect l="l" t="t" r="r" b="b"/>
              <a:pathLst>
                <a:path w="4332364" h="558797">
                  <a:moveTo>
                    <a:pt x="24003" y="0"/>
                  </a:moveTo>
                  <a:lnTo>
                    <a:pt x="4308361" y="0"/>
                  </a:lnTo>
                  <a:cubicBezTo>
                    <a:pt x="4321618" y="0"/>
                    <a:pt x="4332364" y="10747"/>
                    <a:pt x="4332364" y="24003"/>
                  </a:cubicBezTo>
                  <a:lnTo>
                    <a:pt x="4332364" y="534794"/>
                  </a:lnTo>
                  <a:cubicBezTo>
                    <a:pt x="4332364" y="548051"/>
                    <a:pt x="4321618" y="558797"/>
                    <a:pt x="4308361" y="558797"/>
                  </a:cubicBezTo>
                  <a:lnTo>
                    <a:pt x="24003" y="558797"/>
                  </a:lnTo>
                  <a:cubicBezTo>
                    <a:pt x="10747" y="558797"/>
                    <a:pt x="0" y="548051"/>
                    <a:pt x="0" y="534794"/>
                  </a:cubicBezTo>
                  <a:lnTo>
                    <a:pt x="0" y="24003"/>
                  </a:lnTo>
                  <a:cubicBezTo>
                    <a:pt x="0" y="10747"/>
                    <a:pt x="10747" y="0"/>
                    <a:pt x="24003" y="0"/>
                  </a:cubicBez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332364" cy="596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701248" y="3808713"/>
            <a:ext cx="1613015" cy="1613015"/>
          </a:xfrm>
          <a:custGeom>
            <a:avLst/>
            <a:gdLst/>
            <a:ahLst/>
            <a:cxnLst/>
            <a:rect l="l" t="t" r="r" b="b"/>
            <a:pathLst>
              <a:path w="1613015" h="1613015">
                <a:moveTo>
                  <a:pt x="0" y="0"/>
                </a:moveTo>
                <a:lnTo>
                  <a:pt x="1613015" y="0"/>
                </a:lnTo>
                <a:lnTo>
                  <a:pt x="1613015" y="1613015"/>
                </a:lnTo>
                <a:lnTo>
                  <a:pt x="0" y="161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>
            <a:off x="1961000" y="1645565"/>
            <a:ext cx="780630" cy="1500604"/>
          </a:xfrm>
          <a:custGeom>
            <a:avLst/>
            <a:gdLst/>
            <a:ahLst/>
            <a:cxnLst/>
            <a:rect l="l" t="t" r="r" b="b"/>
            <a:pathLst>
              <a:path w="780630" h="1500604">
                <a:moveTo>
                  <a:pt x="0" y="0"/>
                </a:moveTo>
                <a:lnTo>
                  <a:pt x="780630" y="0"/>
                </a:lnTo>
                <a:lnTo>
                  <a:pt x="780630" y="1500604"/>
                </a:lnTo>
                <a:lnTo>
                  <a:pt x="0" y="1500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821" t="-10515" r="-210927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6" name="Group 16"/>
          <p:cNvGrpSpPr/>
          <p:nvPr/>
        </p:nvGrpSpPr>
        <p:grpSpPr>
          <a:xfrm>
            <a:off x="7660958" y="1280294"/>
            <a:ext cx="8899634" cy="6688902"/>
            <a:chOff x="0" y="0"/>
            <a:chExt cx="2343936" cy="17616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43936" cy="1761686"/>
            </a:xfrm>
            <a:custGeom>
              <a:avLst/>
              <a:gdLst/>
              <a:ahLst/>
              <a:cxnLst/>
              <a:rect l="l" t="t" r="r" b="b"/>
              <a:pathLst>
                <a:path w="2343936" h="1761686">
                  <a:moveTo>
                    <a:pt x="44366" y="0"/>
                  </a:moveTo>
                  <a:lnTo>
                    <a:pt x="2299571" y="0"/>
                  </a:lnTo>
                  <a:cubicBezTo>
                    <a:pt x="2324073" y="0"/>
                    <a:pt x="2343936" y="19863"/>
                    <a:pt x="2343936" y="44366"/>
                  </a:cubicBezTo>
                  <a:lnTo>
                    <a:pt x="2343936" y="1717321"/>
                  </a:lnTo>
                  <a:cubicBezTo>
                    <a:pt x="2343936" y="1741823"/>
                    <a:pt x="2324073" y="1761686"/>
                    <a:pt x="2299571" y="1761686"/>
                  </a:cubicBezTo>
                  <a:lnTo>
                    <a:pt x="44366" y="1761686"/>
                  </a:lnTo>
                  <a:cubicBezTo>
                    <a:pt x="19863" y="1761686"/>
                    <a:pt x="0" y="1741823"/>
                    <a:pt x="0" y="1717321"/>
                  </a:cubicBezTo>
                  <a:lnTo>
                    <a:pt x="0" y="44366"/>
                  </a:lnTo>
                  <a:cubicBezTo>
                    <a:pt x="0" y="19863"/>
                    <a:pt x="19863" y="0"/>
                    <a:pt x="44366" y="0"/>
                  </a:cubicBez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343936" cy="1799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279" y="321531"/>
            <a:ext cx="10154994" cy="8626180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361436" y="6382555"/>
            <a:ext cx="2112422" cy="1137540"/>
          </a:xfrm>
          <a:custGeom>
            <a:avLst/>
            <a:gdLst/>
            <a:ahLst/>
            <a:cxnLst/>
            <a:rect l="l" t="t" r="r" b="b"/>
            <a:pathLst>
              <a:path w="2112422" h="1137540">
                <a:moveTo>
                  <a:pt x="0" y="0"/>
                </a:moveTo>
                <a:lnTo>
                  <a:pt x="2112422" y="0"/>
                </a:lnTo>
                <a:lnTo>
                  <a:pt x="2112422" y="1137540"/>
                </a:lnTo>
                <a:lnTo>
                  <a:pt x="0" y="113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528" t="-29807" r="-21986" b="-44042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1" name="TextBox 21"/>
          <p:cNvSpPr txBox="1"/>
          <p:nvPr/>
        </p:nvSpPr>
        <p:spPr>
          <a:xfrm>
            <a:off x="2541419" y="-65999"/>
            <a:ext cx="13205161" cy="11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Summary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40805" y="3554378"/>
            <a:ext cx="2180970" cy="136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 b="1" i="1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54.2%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14298" y="4955676"/>
            <a:ext cx="3894767" cy="34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0"/>
              </a:lnSpc>
              <a:spcBef>
                <a:spcPct val="0"/>
              </a:spcBef>
            </a:pPr>
            <a:r>
              <a:rPr lang="en-US" sz="2014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Highest Confidence | Age (75+)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0696" y="8573205"/>
            <a:ext cx="15730398" cy="120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Conclusion: Confidence is highest in Police among immigrants, older urban residents, and women, largely reflecting differences in living experience, service accessibility and institutional trust.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40805" y="1183986"/>
            <a:ext cx="2047075" cy="136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3"/>
              </a:lnSpc>
              <a:spcBef>
                <a:spcPct val="0"/>
              </a:spcBef>
            </a:pPr>
            <a:r>
              <a:rPr lang="en-US" sz="7995" b="1" i="1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29.6%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41630" y="2590591"/>
            <a:ext cx="4240103" cy="34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0"/>
              </a:lnSpc>
              <a:spcBef>
                <a:spcPct val="0"/>
              </a:spcBef>
            </a:pPr>
            <a:r>
              <a:rPr lang="en-US" sz="2014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Highest Low Confidence | Gender (Men)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71197" y="5809412"/>
            <a:ext cx="2180970" cy="136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 b="1" i="1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50.4%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14263" y="7139697"/>
            <a:ext cx="3874675" cy="69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Highest Confidence | Immigrantion Status (Immigrants)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7634" y="2695271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28700" y="599709"/>
            <a:ext cx="8048163" cy="108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87419" y="3792236"/>
            <a:ext cx="12450142" cy="292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Statistics Canada(Oct. 29, 2025). Confidence in institutions</a:t>
            </a:r>
          </a:p>
          <a:p>
            <a:pPr algn="l">
              <a:lnSpc>
                <a:spcPts val="3359"/>
              </a:lnSpc>
            </a:pPr>
            <a:r>
              <a:rPr lang="en-US" sz="2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https://www.statcan.gc.ca/hub-carrefour/quality-life-qualite-vie/good-governance-saine-gouvernance/institutions-eng.html</a:t>
            </a:r>
          </a:p>
          <a:p>
            <a:pPr algn="l">
              <a:lnSpc>
                <a:spcPts val="3359"/>
              </a:lnSpc>
            </a:pPr>
            <a:endParaRPr lang="en-US" sz="2399" b="1" i="1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  <a:p>
            <a:pPr algn="l">
              <a:lnSpc>
                <a:spcPts val="3359"/>
              </a:lnSpc>
            </a:pPr>
            <a:r>
              <a:rPr lang="en-US" sz="2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Statistics Canada(n.d.). Confidence in institutions, by gender and other selected sociodemographic characteristics </a:t>
            </a:r>
          </a:p>
          <a:p>
            <a:pPr algn="l">
              <a:lnSpc>
                <a:spcPts val="3359"/>
              </a:lnSpc>
            </a:pPr>
            <a:r>
              <a:rPr lang="en-US" sz="2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https://www150.statcan.gc.ca/t1/tbl1/en/tv.action?pid=4510007401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b="1" i="1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767060" y="7856902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4936" y="11129"/>
            <a:ext cx="4533001" cy="10656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#Loading the required packages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library(readr)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library(dplyr)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library(tidyr)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library(tidyverse)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library(ggplot2)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#---------------------------------------------------------------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#Loading the csv file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GG &lt;- read_csv("Good Governance-Confidence in Institutions.csv")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GG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#Data Cleaning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#Splitting the column "indicators" to "institution" and "confidence_level" to segregate them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conf &lt;- GG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Institution = str_extract(Indicators,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                   "Confidence in the .*? rating"),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Institution = str_replace(Institution,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                   "Confidence in the ", ""),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Institution = str_replace(Institution,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                   " rating", ""),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Confidence_Level = case_when(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str_detect(Indicators, "1 or 2") ~ "Low",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str_detect(Indicators, "3") ~ "Neutral",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str_detect(Indicators, "4 or 5") ~ "High"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select(-Indicators)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#Fill all the blanks for Gender and Sociodemographics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conf &lt;- conf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fill(Gender, .direction = "down")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fill(Sociodemographic, .direction = "down")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eorder of the variables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conf_clean &lt;- conf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select(Gender, Sociodemographic, Institution, Confidence_Level,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Q4_2023, Q4_2024)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#Inspect the cleaned tibble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conf_clean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#----------------------------------------------------------------xxx------------------------------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#Confidence in Institutions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analysis1_data &lt;- conf_clean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filter(str_detect(Gender, "Total"),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str_detect(Sociodemographic, "Total"))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select(Institution, Confidence_Level, Q4_2024)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mutate(Confidence_Level = factor(Confidence_Level,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levels = c("Low", "Neutral", "High")))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690809" y="11129"/>
            <a:ext cx="4533001" cy="1027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ggplot(analysis1_data,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aes(x = Institution,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y = Q4_2024,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fill = Confidence_Level))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geom_col(position = "fill")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scale_y_continuous(labels = scales::percent)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labs(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title = "Confidence Distribution by Institution",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x = "Institution",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y = "Percentage Share",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fill = "Confidence Level"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theme_minimal()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theme(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axis.text.x = element_text(angle = 45, hjust = 1),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plot.title = element_text(face = "bold")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#Year-over-Year Change in Confidence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analysis2_data &lt;- conf_clean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filter(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Confidence_Level == "High",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str_detect(Gender, "Total"),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str_detect(Sociodemographic, "Total")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select(Institution, Q4_2023, Q4_2024)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Q4_2023 = Q4_2023 / 100,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Q4_2024 = Q4_2024 / 100,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Change = Q4_2024 - Q4_2023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pivot_longer(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cols = c(Q4_2023, Q4_2024),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names_to = "Quarter",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values_to = "Value"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Quarter = recode(Quarter,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          "Q4_2023" = "2023",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          "Q4_2024" = "2024"),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Quarter = factor(Quarter, levels = c("2023", "2024"))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ggplot(analysis2_data,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aes(x = Institution,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y = Value,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fill = Quarter))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geom_col(position = position_dodge(width = 0.7))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geom_text(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data = analysis2_data %&gt;% filter(Quarter == "2024"),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aes(label = scales::percent(Change, accuracy = 0.1),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y = Value + 0.02),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position = position_dodge(width = 0.7),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size = 3.5,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26299" y="11129"/>
            <a:ext cx="4533001" cy="1027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fontface = "bold"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coord_flip()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scale_y_continuous(labels = scales::percent)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scale_fill_manual(values = c(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"2023" = "#1B9E77",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"2024" = "#D95F02"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labs(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title = "Year-over-Year Change in Confidence Levels (2023 vs 2024)",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subtitle = "Labels show percentage-point change from 2023 to 2024",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x = "Institution",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y = "Percentage",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fill = "Quarter"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theme_minimal()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theme(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plot.title = element_text(face = "bold"),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plot.subtitle = element_text(),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axis.text.y = element_text(face = "bold"),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legend.position = "top"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#----------------------------------------------------------------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 Confidence across Age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analysis3_age &lt;- conf_clean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filter(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Confidence_Level == "High",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str_detect(Gender, "Total"),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str_detect(Sociodemographic, "\\d"), 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!str_detect(Sociodemographic, "Total")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Age_Group = Sociodemographic,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Q4_2024 = Q4_2024 / 100               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group_by(Age_Group) %&gt;%                 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summarise(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High_Conf = mean(Q4_2024, na.rm = TRUE)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ungroup()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analysis3_age &lt;- analysis3_age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Age_Group = case_when(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Age_Group == "15 to 24 years" ~ "15-24",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Age_Group == "25 to 34 years" ~ "25-34",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Age_Group == "35 to 44 years" ~ "35-44",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Age_Group == "45 to 54 years" ~ "45-54",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Age_Group == "55 to 64 years" ~ "55-64",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Age_Group == "65 to 74 years" ~ "65-74",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Age_Group == "75 years and over" ~ "75+",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TRUE ~ Age_Group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251337"/>
            <a:ext cx="2814936" cy="109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i="1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Confidence in Institutions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104" y="11129"/>
            <a:ext cx="4533001" cy="1046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ggplot(analysis3_age,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aes(x = Age_Group,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y = High_Conf,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group = 1)) +     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geom_col(fill = "#7570B3")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# Trend line connecting bar tops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geom_line(color = "#1B9E77", size = 1.2)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geom_point(color = "#1B9E77", size = 3)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# Labels on top of bars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geom_text(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aes(label = scales::percent(High_Conf, accuracy = 0.1)),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vjust = -0.3,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size = 4,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fontface = "bold"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scale_y_continuous(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labels = scales::percent,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expand = expansion(mult = c(0, 0.1))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labs(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title = "Confidence Levels by Age Group",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subtitle = "Bars show percentages; line shows trend across age groups",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x = "Age Group",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y = "Percentage"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theme_minimal()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theme(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plot.title = element_text(face = "bold"),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axis.text.x = element_text(face = "bold", vjust = 0.5)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#----------------------------------------------------------------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 Confidence Level between the Immigration groups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analysis_imm &lt;- conf_clean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filter(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str_detect(Gender, "Total"),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Confidence_Level %in% c("Low", "Neutral", "High"),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str_detect(Sociodemographic, "Immigr") | str_detect(Sociodemographic, "Non")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Immigration_Status = case_when(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str_detect(Sociodemographic, "Non") ~ "Non-Immigrant",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str_detect(Sociodemographic, "Immigr") ~ "Immigrant"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Q4_2024 = Q4_2024 / 100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group_by(Immigration_Status, Confidence_Level) %&gt;%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summarise(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Value = mean(Q4_2024, na.rm = TRUE)         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ungroup()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037078" y="11129"/>
            <a:ext cx="4533001" cy="1027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analysis_imm$Confidence_Level &lt;- factor(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analysis_imm$Confidence_Level,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levels = c("Low", "Neutral", "High")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ggplot(analysis_imm,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aes(x = Confidence_Level,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y = Value,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fill = Immigration_Status))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geom_col(position = position_dodge(width = 0.9))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geom_text(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aes(label = scales::percent(Value, accuracy = 0.1)),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position = position_dodge(width = 0.9),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vjust = -0.3,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size = 4,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fontface = "bold"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scale_y_continuous(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labels = scales::percent,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expand = expansion(mult = c(0, 0.1))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scale_fill_manual(values = c(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"Immigrant" = "#1B9E77",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"Non-Immigrant" = "#D95F02"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labs(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title = "Confidence Levels by Immigration Status",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x = "Confidence Level",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y = "Percentage",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fill = "Immigration Status"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theme_minimal()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theme(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plot.title = element_text(face = "bold"),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axis.text.x = element_text(face = "bold")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#----------------------------------------------------------------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#Confidence by Age and Area of Residence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analysis_gender_area &lt;- conf_clean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filter(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Confidence_Level %in% c("Low", "Neutral", "High"),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str_detect(Gender, "Men|Women"),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str_detect(Sociodemographic, "Urban|Rural")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Gender = ifelse(str_detect(Gender, "Men"), "Men", "Women"),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Area = ifelse(str_detect(Sociodemographic, "Urban"), "Urban", "Rural"),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Q4_2024 = Q4_2024 / 100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group_by(Gender, Area, Confidence_Level) %&gt;%   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summarise(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Value = mean(Q4_2024, na.rm = TRUE)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0079" y="11129"/>
            <a:ext cx="4533001" cy="932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ungroup()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analysis_gender_area$Confidence_Level &lt;- factor(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analysis_gender_area$Confidence_Level,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levels = c("Low", "Neutral", "High")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plot_gender_area &lt;- function(gender_name) {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df &lt;- analysis_gender_area %&gt;% filter(Gender == gender_name)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ggplot(df,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aes(x = Area,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  y = Value,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     fill = Confidence_Level))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geom_col(position = position_dodge(width = 0.9))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geom_text(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aes(label = scales::percent(Value, accuracy = 0.1)),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position = position_dodge(width = 0.9),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vjust = -0.3,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size = 4,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fontface = "bold"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scale_y_continuous(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labels = scales::percent,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expand = expansion(mult = c(0, 0.1))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scale_fill_manual(values = c(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"Low" = "#1B9E77",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"Neutral" = "#D95F02",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"High" = "#7570B3"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labs(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title = paste("Confidence Levels by Area of Residence (", gender_name, ")"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, sep = ""),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x = "Area of Residence",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y = "Percentage",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fill = "Confidence Level"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theme_minimal() +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theme(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plot.title = element_text(face = "bold"),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axis.text.x = element_text(face = "bold")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}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plot_gender_area("Men")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plot_gender_area("Women")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754999" y="11129"/>
            <a:ext cx="4533001" cy="4562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#----------------------------------------------------------------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#Calculate proportions for Pie-chart</a:t>
            </a:r>
          </a:p>
          <a:p>
            <a:pPr algn="l">
              <a:lnSpc>
                <a:spcPts val="1540"/>
              </a:lnSpc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institution_proportions &lt;- conf_clean %&gt;%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filter(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Confidence_Level == "High",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str_detect(Gender, "Total"),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str_detect(Sociodemographic, "Total")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Q4_2024 = Q4_2024 / 100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group_by(Institution) %&gt;%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summarise(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High_Conf = mean(Q4_2024, na.rm = TRUE)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 %&gt;%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ungroup() %&gt;%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mutate(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Proportion = High_Conf / sum(High_Conf)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)</a:t>
            </a:r>
          </a:p>
          <a:p>
            <a:pPr algn="l">
              <a:lnSpc>
                <a:spcPts val="1540"/>
              </a:lnSpc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institution_proportions</a:t>
            </a:r>
          </a:p>
          <a:p>
            <a:pPr algn="l">
              <a:lnSpc>
                <a:spcPts val="1540"/>
              </a:lnSpc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endParaRPr lang="en-US" sz="1100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Big Data 2 - Group_Project_Ke_Ping_Lo</Template>
  <TotalTime>6</TotalTime>
  <Words>2861</Words>
  <Application>Microsoft Office PowerPoint</Application>
  <PresentationFormat>Custom</PresentationFormat>
  <Paragraphs>401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Cormorant Garamond</vt:lpstr>
      <vt:lpstr>Calibri</vt:lpstr>
      <vt:lpstr>Quicksand</vt:lpstr>
      <vt:lpstr>Arial</vt:lpstr>
      <vt:lpstr>Cormorant Garamond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kevinlo12346@gmail.com</dc:creator>
  <cp:lastModifiedBy>kevinlo12346@gmail.com</cp:lastModifiedBy>
  <cp:revision>1</cp:revision>
  <dcterms:created xsi:type="dcterms:W3CDTF">2026-05-27T22:28:32Z</dcterms:created>
  <dcterms:modified xsi:type="dcterms:W3CDTF">2026-05-27T22:35:31Z</dcterms:modified>
  <dc:identifier>DAHHg7iLK_4</dc:identifier>
</cp:coreProperties>
</file>